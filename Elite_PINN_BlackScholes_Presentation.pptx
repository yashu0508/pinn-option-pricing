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38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9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8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4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9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6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3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2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2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211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55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45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6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10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1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93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5038" y="1072383"/>
            <a:ext cx="6593681" cy="2387600"/>
          </a:xfrm>
        </p:spPr>
        <p:txBody>
          <a:bodyPr>
            <a:normAutofit/>
          </a:bodyPr>
          <a:lstStyle/>
          <a:p>
            <a:r>
              <a:rPr lang="en-US" sz="4500" dirty="0"/>
              <a:t>Physics-Informed Neural Networks for Black–Scholes PDE</a:t>
            </a:r>
            <a:endParaRPr sz="4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0319" y="4946599"/>
            <a:ext cx="6593681" cy="1655762"/>
          </a:xfrm>
        </p:spPr>
        <p:txBody>
          <a:bodyPr/>
          <a:lstStyle/>
          <a:p>
            <a:pPr algn="r"/>
            <a:r>
              <a:rPr lang="en-IN" dirty="0">
                <a:latin typeface="Bahnschrift Light" panose="020B0502040204020203" pitchFamily="34" charset="0"/>
              </a:rPr>
              <a:t>Vidit Tank (B24409)</a:t>
            </a:r>
          </a:p>
          <a:p>
            <a:pPr algn="r"/>
            <a:r>
              <a:rPr lang="en-IN" dirty="0">
                <a:latin typeface="Bahnschrift Light" panose="020B0502040204020203" pitchFamily="34" charset="0"/>
              </a:rPr>
              <a:t>Yatharth Mehta (B24398)</a:t>
            </a:r>
            <a:endParaRPr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208" y="388373"/>
            <a:ext cx="7429499" cy="1408830"/>
          </a:xfrm>
        </p:spPr>
        <p:txBody>
          <a:bodyPr>
            <a:normAutofit/>
          </a:bodyPr>
          <a:lstStyle/>
          <a:p>
            <a:r>
              <a:rPr sz="3300" dirty="0"/>
              <a:t>Solving Option Pricing without Grids</a:t>
            </a:r>
            <a:r>
              <a:rPr lang="en-IN" sz="3300" dirty="0"/>
              <a:t> (why </a:t>
            </a:r>
            <a:r>
              <a:rPr lang="en-IN" sz="3300" dirty="0" err="1"/>
              <a:t>pinn</a:t>
            </a:r>
            <a:r>
              <a:rPr lang="en-IN" sz="3300" dirty="0"/>
              <a:t>)</a:t>
            </a:r>
            <a:endParaRPr sz="3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207" y="2003680"/>
            <a:ext cx="7429499" cy="4318461"/>
          </a:xfrm>
        </p:spPr>
        <p:txBody>
          <a:bodyPr>
            <a:normAutofit/>
          </a:bodyPr>
          <a:lstStyle/>
          <a:p>
            <a:r>
              <a:rPr sz="2000" dirty="0"/>
              <a:t>Traditional methods rely on finite difference or Monte Carlo approaches</a:t>
            </a:r>
          </a:p>
          <a:p>
            <a:r>
              <a:rPr sz="2000" dirty="0"/>
              <a:t>These methods suffer from discretization errors and computational cost</a:t>
            </a:r>
          </a:p>
          <a:p>
            <a:r>
              <a:rPr sz="2000" dirty="0"/>
              <a:t>We use Physics-Informed Neural Networks (PINNs) to directly learn the solution</a:t>
            </a:r>
            <a:r>
              <a:rPr lang="en-IN" sz="2000" dirty="0"/>
              <a:t>. It naturally incorporates physical constraints</a:t>
            </a:r>
          </a:p>
          <a:p>
            <a:r>
              <a:rPr lang="en-IN" sz="2000" dirty="0"/>
              <a:t>Handles high-dimensional problems efficiently</a:t>
            </a:r>
            <a:endParaRPr sz="2000" dirty="0"/>
          </a:p>
          <a:p>
            <a:r>
              <a:rPr sz="2000" dirty="0"/>
              <a:t>Objective is to approximate option price as a continuous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Black–Scholes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181" y="2285404"/>
            <a:ext cx="7811729" cy="2695045"/>
          </a:xfrm>
        </p:spPr>
        <p:txBody>
          <a:bodyPr>
            <a:normAutofit/>
          </a:bodyPr>
          <a:lstStyle/>
          <a:p>
            <a:r>
              <a:rPr dirty="0"/>
              <a:t>Core governing equation: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∂V/∂t + 0.5 σ² S² ∂²V/∂S² + r S ∂V/∂S − rV = 0</a:t>
            </a:r>
          </a:p>
          <a:p>
            <a:r>
              <a:rPr dirty="0"/>
              <a:t>Defines evolution of option price over time</a:t>
            </a:r>
          </a:p>
          <a:p>
            <a:r>
              <a:rPr dirty="0"/>
              <a:t>Subject to terminal and boundary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Terminal payoff: V(S,T) = max(S − K, 0)</a:t>
            </a:r>
          </a:p>
          <a:p>
            <a:r>
              <a:t>At S = 0: option value approaches 0</a:t>
            </a:r>
          </a:p>
          <a:p>
            <a:r>
              <a:t>At large S: option behaves like intrinsic value</a:t>
            </a:r>
          </a:p>
          <a:p>
            <a:r>
              <a:t>These constraints guide the neural network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799500"/>
            <a:ext cx="7429499" cy="1478570"/>
          </a:xfrm>
        </p:spPr>
        <p:txBody>
          <a:bodyPr/>
          <a:lstStyle/>
          <a:p>
            <a:r>
              <a:rPr dirty="0"/>
              <a:t>Neural Network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variables: Stock price (S), Time (t), Volatility (σ)</a:t>
            </a:r>
          </a:p>
          <a:p>
            <a:r>
              <a:t>Output: Option price V(S,t,σ)</a:t>
            </a:r>
          </a:p>
          <a:p>
            <a:r>
              <a:t>Fully connected neural network approximates solution</a:t>
            </a:r>
          </a:p>
          <a:p>
            <a:r>
              <a:t>Automatic differentiation used for derivatives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Physics-Constrained 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= PDE Residual + Boundary Loss</a:t>
            </a:r>
          </a:p>
          <a:p>
            <a:r>
              <a:t>PDE Residual enforces Black–Scholes equation</a:t>
            </a:r>
          </a:p>
          <a:p>
            <a:r>
              <a:t>Boundary Loss ensures payoff and constraints are satisfied</a:t>
            </a:r>
          </a:p>
          <a:p>
            <a:r>
              <a:t>Optimization aligns model with both data and physics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sampling of points in domain</a:t>
            </a:r>
          </a:p>
          <a:p>
            <a:r>
              <a:rPr dirty="0"/>
              <a:t>Optimizer</a:t>
            </a:r>
            <a:r>
              <a:rPr lang="en-IN" dirty="0"/>
              <a:t> used </a:t>
            </a:r>
            <a:r>
              <a:rPr dirty="0"/>
              <a:t>: Adam</a:t>
            </a:r>
          </a:p>
          <a:p>
            <a:r>
              <a:rPr dirty="0"/>
              <a:t>Backpropagation with automatic differentiation</a:t>
            </a:r>
          </a:p>
          <a:p>
            <a:r>
              <a:rPr dirty="0"/>
              <a:t>Model learns solution without labeled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with Exact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Closed-form Black–Scholes formula used for validation</a:t>
            </a:r>
          </a:p>
          <a:p>
            <a:r>
              <a:t>Model predictions compared against analytical values</a:t>
            </a:r>
          </a:p>
          <a:p>
            <a:r>
              <a:t>Ensures correctness and robustness of PINN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Outputs &amp; Visualizations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A9ECB-0918-89DF-0D8E-253701C8F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0" y="1858484"/>
            <a:ext cx="3820501" cy="34996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F8F8C5-3955-705A-0F79-D20719D19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380" y="1858485"/>
            <a:ext cx="3659059" cy="34996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4B9EA0-EFDA-DB8A-4FF9-0888336E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2" y="176840"/>
            <a:ext cx="3741658" cy="30184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9578B-F9A9-C8E8-7FC5-83A3C15CA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649" y="3605840"/>
            <a:ext cx="5556351" cy="32521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D33BD8-1E5A-B323-C4BB-65FF2A83B490}"/>
              </a:ext>
            </a:extLst>
          </p:cNvPr>
          <p:cNvSpPr txBox="1"/>
          <p:nvPr/>
        </p:nvSpPr>
        <p:spPr>
          <a:xfrm>
            <a:off x="4572000" y="762000"/>
            <a:ext cx="353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Absolute Error Heat 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CA40B-C648-953B-E4D4-CCDAA0BA0844}"/>
              </a:ext>
            </a:extLst>
          </p:cNvPr>
          <p:cNvSpPr txBox="1"/>
          <p:nvPr/>
        </p:nvSpPr>
        <p:spPr>
          <a:xfrm>
            <a:off x="4805682" y="2779821"/>
            <a:ext cx="4074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Pricing 4 different stocks instantly (T=0)</a:t>
            </a:r>
          </a:p>
        </p:txBody>
      </p:sp>
    </p:spTree>
    <p:extLst>
      <p:ext uri="{BB962C8B-B14F-4D97-AF65-F5344CB8AC3E}">
        <p14:creationId xmlns:p14="http://schemas.microsoft.com/office/powerpoint/2010/main" val="327903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4F56-C4B4-AEB2-D119-9EFA301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700" y="801398"/>
            <a:ext cx="7429499" cy="1478570"/>
          </a:xfrm>
        </p:spPr>
        <p:txBody>
          <a:bodyPr/>
          <a:lstStyle/>
          <a:p>
            <a:r>
              <a:rPr lang="en-IN" dirty="0"/>
              <a:t>Futuristic ideas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E87AC-51B0-A851-5F0C-0CB80A1A68F9}"/>
              </a:ext>
            </a:extLst>
          </p:cNvPr>
          <p:cNvSpPr txBox="1"/>
          <p:nvPr/>
        </p:nvSpPr>
        <p:spPr>
          <a:xfrm>
            <a:off x="886540" y="2673649"/>
            <a:ext cx="684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Build </a:t>
            </a:r>
            <a:r>
              <a:rPr lang="en-US" sz="2400" b="1" dirty="0"/>
              <a:t>real-time adaptive models</a:t>
            </a:r>
            <a:r>
              <a:rPr lang="en-US" sz="2400" dirty="0"/>
              <a:t> using live market data for dynamic pricing &amp; hedging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Expand to </a:t>
            </a:r>
            <a:r>
              <a:rPr lang="en-US" sz="2400" b="1" dirty="0"/>
              <a:t>advanced models (Heston, stochastic volatility, jumps)</a:t>
            </a:r>
            <a:r>
              <a:rPr lang="en-US" sz="2400" dirty="0"/>
              <a:t> for realistic market behavior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6645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</TotalTime>
  <Words>343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Bahnschrift Light</vt:lpstr>
      <vt:lpstr>Tw Cen MT</vt:lpstr>
      <vt:lpstr>Circuit</vt:lpstr>
      <vt:lpstr>Physics-Informed Neural Networks for Black–Scholes PDE</vt:lpstr>
      <vt:lpstr>Solving Option Pricing without Grids (why pinn)</vt:lpstr>
      <vt:lpstr>Black–Scholes Equation</vt:lpstr>
      <vt:lpstr>Boundary Conditions</vt:lpstr>
      <vt:lpstr>Neural Network Approximation</vt:lpstr>
      <vt:lpstr>Physics-Constrained Loss Function</vt:lpstr>
      <vt:lpstr>Model Training</vt:lpstr>
      <vt:lpstr>Validation with Exact Solution</vt:lpstr>
      <vt:lpstr>Model Outputs &amp; Visualizations</vt:lpstr>
      <vt:lpstr>PowerPoint Presentation</vt:lpstr>
      <vt:lpstr>Futuristic ideas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yatharthmehta0508@gmail.com</cp:lastModifiedBy>
  <cp:revision>2</cp:revision>
  <dcterms:created xsi:type="dcterms:W3CDTF">2013-01-27T09:14:16Z</dcterms:created>
  <dcterms:modified xsi:type="dcterms:W3CDTF">2026-03-30T10:24:39Z</dcterms:modified>
  <cp:category/>
</cp:coreProperties>
</file>